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7" d="100"/>
          <a:sy n="57" d="100"/>
        </p:scale>
        <p:origin x="21" y="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0687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0500" y="857250"/>
            <a:ext cx="8572500" cy="8572500"/>
          </a:xfrm>
          <a:prstGeom prst="ellipse">
            <a:avLst/>
          </a:prstGeom>
          <a:ln w="9525">
            <a:solidFill>
              <a:srgbClr val="FFFF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13049250" y="2286000"/>
            <a:ext cx="5715000" cy="5715000"/>
          </a:xfrm>
          <a:prstGeom prst="ellipse">
            <a:avLst/>
          </a:prstGeom>
          <a:ln w="9525">
            <a:solidFill>
              <a:srgbClr val="FFFF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14478000" y="3714750"/>
            <a:ext cx="2857500" cy="2857500"/>
          </a:xfrm>
          <a:prstGeom prst="ellipse">
            <a:avLst/>
          </a:prstGeom>
          <a:ln w="9525">
            <a:solidFill>
              <a:srgbClr val="FFFF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14573250" y="4762500"/>
            <a:ext cx="762000" cy="762000"/>
          </a:xfrm>
          <a:prstGeom prst="ellipse">
            <a:avLst/>
          </a:prstGeom>
          <a:solidFill>
            <a:srgbClr val="E87C3A">
              <a:alpha val="12000"/>
            </a:srgbClr>
          </a:solidFill>
          <a:ln w="9525">
            <a:solidFill>
              <a:srgbClr val="E87C3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952500" y="2950890"/>
            <a:ext cx="1287809" cy="266701"/>
          </a:xfrm>
          <a:prstGeom prst="roundRect">
            <a:avLst>
              <a:gd name="adj" fmla="val 14815"/>
            </a:avLst>
          </a:prstGeom>
          <a:solidFill>
            <a:srgbClr val="E87C3A">
              <a:alpha val="15000"/>
            </a:srgbClr>
          </a:solidFill>
          <a:ln w="9525">
            <a:solidFill>
              <a:srgbClr val="E87C3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1095375" y="3008041"/>
            <a:ext cx="109487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59" dirty="0">
                <a:solidFill>
                  <a:srgbClr val="E87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 PROJECT</a:t>
            </a: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2383184" y="2950890"/>
            <a:ext cx="1719033" cy="266700"/>
          </a:xfrm>
          <a:prstGeom prst="roundRect">
            <a:avLst>
              <a:gd name="adj" fmla="val 14815"/>
            </a:avLst>
          </a:prstGeom>
          <a:solidFill>
            <a:srgbClr val="5B8DEE">
              <a:alpha val="12000"/>
            </a:srgbClr>
          </a:solidFill>
          <a:ln w="9525">
            <a:solidFill>
              <a:srgbClr val="5B8DEE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2463675" y="2998515"/>
            <a:ext cx="183148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59" dirty="0">
                <a:solidFill>
                  <a:srgbClr val="5B8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NETLOGO · CA MODEL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952500" y="3684315"/>
            <a:ext cx="9810750" cy="1546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5400" b="1" kern="0" spc="-108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Pedestrian Roundabout as </a:t>
            </a:r>
            <a:r>
              <a:rPr lang="en-US" sz="5400" kern="0" spc="-108" dirty="0">
                <a:solidFill>
                  <a:srgbClr val="E87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Passive DAI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952500" y="5383485"/>
            <a:ext cx="706374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EEEEF4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Floor Field cellular automaton study of distributed crowd coordination through spatial architecture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52500" y="6736035"/>
            <a:ext cx="9810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EEEEF4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</a:t>
            </a:r>
            <a:r>
              <a:rPr lang="en-US" sz="1500" b="1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 BehaviorSpace experiments </a:t>
            </a:r>
            <a:r>
              <a:rPr lang="en-US" sz="1500" dirty="0">
                <a:solidFill>
                  <a:srgbClr val="EEEEF4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DAI_roundabout.nlogo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52500" y="7078935"/>
            <a:ext cx="981075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>
                    <a:alpha val="2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Burstedde (2001) · Weng (2006) · Zhang (2012) · Helbing (2005) · Yanagisawa (2019)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6918037" y="9591675"/>
            <a:ext cx="49366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FFFFFF">
                    <a:alpha val="1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10</a:t>
            </a:r>
            <a:endParaRPr lang="en-US" sz="9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2508498"/>
            <a:ext cx="609600" cy="28575"/>
          </a:xfrm>
          <a:prstGeom prst="roundRect">
            <a:avLst>
              <a:gd name="adj" fmla="val 50000"/>
            </a:avLst>
          </a:prstGeom>
          <a:solidFill>
            <a:srgbClr val="E87C3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952500" y="2918073"/>
            <a:ext cx="1687449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17" dirty="0">
                <a:solidFill>
                  <a:srgbClr val="E87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CONCEPT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952500" y="3346698"/>
            <a:ext cx="8829675" cy="1672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900" b="1" kern="0" spc="-78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roundabout is not just infrastructure — it is a </a:t>
            </a:r>
            <a:r>
              <a:rPr lang="en-US" sz="3900" kern="0" spc="-78" dirty="0">
                <a:solidFill>
                  <a:srgbClr val="E87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algorithm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952500" y="5590654"/>
            <a:ext cx="5206975" cy="2187848"/>
          </a:xfrm>
          <a:prstGeom prst="roundRect">
            <a:avLst>
              <a:gd name="adj" fmla="val 5224"/>
            </a:avLst>
          </a:prstGeom>
          <a:solidFill>
            <a:srgbClr val="1C1C2E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1304925" y="5943079"/>
            <a:ext cx="4637189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E87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304925" y="6205017"/>
            <a:ext cx="463718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 artefact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304925" y="6595542"/>
            <a:ext cx="4637189" cy="617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425" dirty="0">
                <a:solidFill>
                  <a:srgbClr val="EEEEF4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junction design that physically separates conflicting traffic streams</a:t>
            </a:r>
            <a:endParaRPr lang="en-US" sz="1425" dirty="0"/>
          </a:p>
        </p:txBody>
      </p:sp>
      <p:sp>
        <p:nvSpPr>
          <p:cNvPr id="9" name="Shape 7"/>
          <p:cNvSpPr/>
          <p:nvPr/>
        </p:nvSpPr>
        <p:spPr>
          <a:xfrm>
            <a:off x="6540475" y="5590654"/>
            <a:ext cx="5206975" cy="2187848"/>
          </a:xfrm>
          <a:prstGeom prst="roundRect">
            <a:avLst>
              <a:gd name="adj" fmla="val 5224"/>
            </a:avLst>
          </a:prstGeom>
          <a:solidFill>
            <a:srgbClr val="1C1C2E"/>
          </a:solidFill>
          <a:ln w="9525">
            <a:solidFill>
              <a:srgbClr val="E87C3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6892900" y="5943079"/>
            <a:ext cx="4637189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E87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THESIS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92900" y="6205017"/>
            <a:ext cx="463718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Passive DAI device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892900" y="6595542"/>
            <a:ext cx="4637189" cy="906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425" dirty="0">
                <a:solidFill>
                  <a:srgbClr val="EEEEF4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environment </a:t>
            </a:r>
            <a:r>
              <a:rPr lang="en-US" sz="1425" dirty="0">
                <a:solidFill>
                  <a:srgbClr val="E87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encodes </a:t>
            </a:r>
            <a:r>
              <a:rPr lang="en-US" sz="1425" dirty="0">
                <a:solidFill>
                  <a:srgbClr val="EEEEF4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gradients and constraints that convert uncoordinated local interactions into collective order — </a:t>
            </a:r>
            <a:r>
              <a:rPr lang="en-US" sz="1425" b="1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explicit communication</a:t>
            </a:r>
            <a:endParaRPr lang="en-US" sz="1425" dirty="0"/>
          </a:p>
        </p:txBody>
      </p:sp>
      <p:sp>
        <p:nvSpPr>
          <p:cNvPr id="13" name="Shape 11"/>
          <p:cNvSpPr/>
          <p:nvPr/>
        </p:nvSpPr>
        <p:spPr>
          <a:xfrm>
            <a:off x="12128450" y="5590654"/>
            <a:ext cx="5207050" cy="2187848"/>
          </a:xfrm>
          <a:prstGeom prst="roundRect">
            <a:avLst>
              <a:gd name="adj" fmla="val 5224"/>
            </a:avLst>
          </a:prstGeom>
          <a:solidFill>
            <a:srgbClr val="1C1C2E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12480875" y="5943079"/>
            <a:ext cx="4637266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E87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2480875" y="6205017"/>
            <a:ext cx="463726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 stigmergy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2480875" y="6595542"/>
            <a:ext cx="4637266" cy="906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425" dirty="0">
                <a:solidFill>
                  <a:srgbClr val="EEEEF4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field (topology), dynamic field (traffic memory), repulsive field (social cost) — together they delegate intelligence to the geometry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16888346" y="9591675"/>
            <a:ext cx="52335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FFFFFF">
                    <a:alpha val="1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10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929780"/>
            <a:ext cx="609600" cy="28575"/>
          </a:xfrm>
          <a:prstGeom prst="roundRect">
            <a:avLst>
              <a:gd name="adj" fmla="val 50000"/>
            </a:avLst>
          </a:prstGeom>
          <a:solidFill>
            <a:srgbClr val="E87C3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952500" y="2339355"/>
            <a:ext cx="1687449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17" dirty="0">
                <a:solidFill>
                  <a:srgbClr val="E87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ARCHITECTURE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952500" y="2767980"/>
            <a:ext cx="16874490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kern="0" spc="-72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Floor Field CA on a 41 × 41 grid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952500" y="3899520"/>
            <a:ext cx="76200" cy="76200"/>
          </a:xfrm>
          <a:prstGeom prst="ellipse">
            <a:avLst/>
          </a:prstGeom>
          <a:solidFill>
            <a:srgbClr val="E87C3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1295400" y="3804270"/>
            <a:ext cx="7789736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World: </a:t>
            </a:r>
            <a:r>
              <a:rPr lang="en-US" sz="1950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41×41 patch grid, carved into a </a:t>
            </a:r>
            <a:r>
              <a:rPr lang="en-US" sz="1950" dirty="0">
                <a:solidFill>
                  <a:srgbClr val="E87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4-arm circular ring </a:t>
            </a:r>
            <a:r>
              <a:rPr lang="en-US" sz="1950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inner radius r and lane width w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52500" y="4852020"/>
            <a:ext cx="76200" cy="76200"/>
          </a:xfrm>
          <a:prstGeom prst="ellipse">
            <a:avLst/>
          </a:prstGeom>
          <a:solidFill>
            <a:srgbClr val="E87C3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1295400" y="4756770"/>
            <a:ext cx="7789736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Island: </a:t>
            </a:r>
            <a:r>
              <a:rPr lang="en-US" sz="1950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obstacle breaks straight-line crossing, forcing circular detours — the core DAI trick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52500" y="5804520"/>
            <a:ext cx="76200" cy="76200"/>
          </a:xfrm>
          <a:prstGeom prst="ellipse">
            <a:avLst/>
          </a:prstGeom>
          <a:solidFill>
            <a:srgbClr val="E87C3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1295400" y="5709270"/>
            <a:ext cx="7789736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Agents: </a:t>
            </a:r>
            <a:r>
              <a:rPr lang="en-US" sz="1950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pedestrian occupies one cell; moves via Moore neighbourhood (8 directions + stay)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52500" y="6757020"/>
            <a:ext cx="76200" cy="76200"/>
          </a:xfrm>
          <a:prstGeom prst="ellipse">
            <a:avLst/>
          </a:prstGeom>
          <a:solidFill>
            <a:srgbClr val="E87C3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1295400" y="6661770"/>
            <a:ext cx="7789736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Anti-clockwise bias: </a:t>
            </a:r>
            <a:r>
              <a:rPr lang="en-US" sz="1950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injected by penalising clockwise routes in the BFS static field — </a:t>
            </a:r>
            <a:r>
              <a:rPr lang="en-US" sz="1950" dirty="0">
                <a:solidFill>
                  <a:srgbClr val="E87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explicit rule</a:t>
            </a:r>
            <a:r>
              <a:rPr lang="en-US" sz="1950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just a cost gradient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952500" y="7709520"/>
            <a:ext cx="76200" cy="76200"/>
          </a:xfrm>
          <a:prstGeom prst="ellipse">
            <a:avLst/>
          </a:prstGeom>
          <a:solidFill>
            <a:srgbClr val="E87C3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1295400" y="7614270"/>
            <a:ext cx="7789736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BFS static fields S0–S3: </a:t>
            </a:r>
            <a:r>
              <a:rPr lang="en-US" sz="1950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per exit, computed from target cells outward; high values = attractive</a:t>
            </a:r>
            <a:endParaRPr lang="en-US" sz="195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7625" y="3804270"/>
            <a:ext cx="3810000" cy="38100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6884997" y="9591675"/>
            <a:ext cx="52670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FFFFFF">
                    <a:alpha val="1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10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735038"/>
            <a:ext cx="609600" cy="28575"/>
          </a:xfrm>
          <a:prstGeom prst="roundRect">
            <a:avLst>
              <a:gd name="adj" fmla="val 50000"/>
            </a:avLst>
          </a:prstGeom>
          <a:solidFill>
            <a:srgbClr val="E87C3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952500" y="2144613"/>
            <a:ext cx="1687449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17" dirty="0">
                <a:solidFill>
                  <a:srgbClr val="E87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MECHANICS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952500" y="2573238"/>
            <a:ext cx="16874490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kern="0" spc="-72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stochastic transition rule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952499" y="3571429"/>
            <a:ext cx="7895887" cy="1730648"/>
          </a:xfrm>
          <a:prstGeom prst="roundRect">
            <a:avLst>
              <a:gd name="adj" fmla="val 4403"/>
            </a:avLst>
          </a:prstGeom>
          <a:solidFill>
            <a:srgbClr val="1C1C2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952500" y="3571429"/>
            <a:ext cx="28575" cy="1730648"/>
          </a:xfrm>
          <a:prstGeom prst="rect">
            <a:avLst/>
          </a:prstGeom>
          <a:solidFill>
            <a:srgbClr val="5B8DE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1323975" y="3838129"/>
            <a:ext cx="7330440" cy="12353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650" dirty="0">
                <a:solidFill>
                  <a:srgbClr val="EEEEF4"/>
                </a:solidFill>
                <a:highlight>
                  <a:srgbClr val="1C1C2E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r>
              <a:rPr lang="en-US" sz="1375" baseline="-40000" dirty="0">
                <a:solidFill>
                  <a:srgbClr val="EE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ij </a:t>
            </a:r>
            <a:r>
              <a:rPr lang="en-US" sz="1650" dirty="0">
                <a:solidFill>
                  <a:srgbClr val="EEEEF4"/>
                </a:solidFill>
                <a:highlight>
                  <a:srgbClr val="1C1C2E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∝ (1 − n</a:t>
            </a:r>
            <a:r>
              <a:rPr lang="en-US" sz="1375" baseline="-40000" dirty="0">
                <a:solidFill>
                  <a:srgbClr val="EE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ij</a:t>
            </a:r>
            <a:r>
              <a:rPr lang="en-US" sz="1650" dirty="0">
                <a:solidFill>
                  <a:srgbClr val="EEEEF4"/>
                </a:solidFill>
                <a:highlight>
                  <a:srgbClr val="1C1C2E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· exp(K</a:t>
            </a:r>
            <a:r>
              <a:rPr lang="en-US" sz="1375" baseline="-40000" dirty="0">
                <a:solidFill>
                  <a:srgbClr val="EE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</a:t>
            </a:r>
            <a:r>
              <a:rPr lang="en-US" sz="1650" dirty="0">
                <a:solidFill>
                  <a:srgbClr val="EEEEF4"/>
                </a:solidFill>
                <a:highlight>
                  <a:srgbClr val="1C1C2E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r>
              <a:rPr lang="en-US" sz="1375" baseline="-40000" dirty="0">
                <a:solidFill>
                  <a:srgbClr val="EE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ij </a:t>
            </a:r>
            <a:r>
              <a:rPr lang="en-US" sz="1650" dirty="0">
                <a:solidFill>
                  <a:srgbClr val="EEEEF4"/>
                </a:solidFill>
                <a:highlight>
                  <a:srgbClr val="1C1C2E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· exp(K</a:t>
            </a:r>
            <a:r>
              <a:rPr lang="en-US" sz="1375" baseline="-40000" dirty="0">
                <a:solidFill>
                  <a:srgbClr val="EE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</a:t>
            </a:r>
            <a:r>
              <a:rPr lang="en-US" sz="1650" dirty="0">
                <a:solidFill>
                  <a:srgbClr val="EEEEF4"/>
                </a:solidFill>
                <a:highlight>
                  <a:srgbClr val="1C1C2E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r>
              <a:rPr lang="en-US" sz="1375" baseline="-40000" dirty="0">
                <a:solidFill>
                  <a:srgbClr val="EE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ij </a:t>
            </a:r>
            <a:r>
              <a:rPr lang="en-US" sz="1650" dirty="0">
                <a:solidFill>
                  <a:srgbClr val="EEEEF4"/>
                </a:solidFill>
                <a:highlight>
                  <a:srgbClr val="1C1C2E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· exp(−K</a:t>
            </a:r>
            <a:r>
              <a:rPr lang="en-US" sz="1375" baseline="-40000" dirty="0">
                <a:solidFill>
                  <a:srgbClr val="EE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</a:t>
            </a:r>
            <a:r>
              <a:rPr lang="en-US" sz="1650" dirty="0">
                <a:solidFill>
                  <a:srgbClr val="EEEEF4"/>
                </a:solidFill>
                <a:highlight>
                  <a:srgbClr val="1C1C2E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r>
              <a:rPr lang="en-US" sz="1375" baseline="-40000" dirty="0">
                <a:solidFill>
                  <a:srgbClr val="EE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ij</a:t>
            </a:r>
            <a:r>
              <a:rPr lang="en-US" sz="1650" dirty="0">
                <a:solidFill>
                  <a:srgbClr val="EEEEF4"/>
                </a:solidFill>
                <a:highlight>
                  <a:srgbClr val="1C1C2E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52500" y="5654501"/>
            <a:ext cx="419100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E87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447800" y="5606876"/>
            <a:ext cx="460875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EEEEF4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exclusion — cell occupied → probability = 0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52500" y="6054551"/>
            <a:ext cx="419100" cy="262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8D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r>
              <a:rPr lang="en-US" sz="1125" baseline="-40000" dirty="0">
                <a:solidFill>
                  <a:srgbClr val="5B8D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447800" y="6006926"/>
            <a:ext cx="379170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EEEEF4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goal-seeking strength via static BFS field 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52500" y="6479307"/>
            <a:ext cx="419100" cy="262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4ECB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r>
              <a:rPr lang="en-US" sz="1125" baseline="-40000" dirty="0">
                <a:solidFill>
                  <a:srgbClr val="4ECB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447800" y="6431682"/>
            <a:ext cx="457403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EEEEF4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stigmergic herding via dynamic traffic-trace field 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52500" y="6904062"/>
            <a:ext cx="419100" cy="262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E05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r>
              <a:rPr lang="en-US" sz="1125" baseline="-40000" dirty="0">
                <a:solidFill>
                  <a:srgbClr val="E05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447800" y="6856437"/>
            <a:ext cx="385271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EEEEF4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cost of proximity via repulsive field R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525000" y="3571429"/>
            <a:ext cx="7810500" cy="1507778"/>
          </a:xfrm>
          <a:prstGeom prst="roundRect">
            <a:avLst>
              <a:gd name="adj" fmla="val 7581"/>
            </a:avLst>
          </a:prstGeom>
          <a:solidFill>
            <a:srgbClr val="1C1C2E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9877425" y="3923854"/>
            <a:ext cx="731882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E87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FIELD 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877425" y="4185791"/>
            <a:ext cx="7318820" cy="617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425" dirty="0">
                <a:solidFill>
                  <a:srgbClr val="EEEEF4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BFS from exit patches; </a:t>
            </a:r>
            <a:r>
              <a:rPr lang="en-US" sz="1425" dirty="0">
                <a:solidFill>
                  <a:srgbClr val="E87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penalty trick </a:t>
            </a:r>
            <a:r>
              <a:rPr lang="en-US" sz="1425" dirty="0">
                <a:solidFill>
                  <a:srgbClr val="EEEEF4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increases cost of clockwise routes, encoding anti-clockwise bias without an explicit rule</a:t>
            </a:r>
            <a:endParaRPr lang="en-US" sz="1425" dirty="0"/>
          </a:p>
        </p:txBody>
      </p:sp>
      <p:sp>
        <p:nvSpPr>
          <p:cNvPr id="19" name="Shape 17"/>
          <p:cNvSpPr/>
          <p:nvPr/>
        </p:nvSpPr>
        <p:spPr>
          <a:xfrm>
            <a:off x="9525000" y="5307806"/>
            <a:ext cx="7810500" cy="1507778"/>
          </a:xfrm>
          <a:prstGeom prst="roundRect">
            <a:avLst>
              <a:gd name="adj" fmla="val 7581"/>
            </a:avLst>
          </a:prstGeom>
          <a:solidFill>
            <a:srgbClr val="1C1C2E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9877425" y="5660231"/>
            <a:ext cx="731882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E87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FIELD 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877425" y="5922169"/>
            <a:ext cx="7318820" cy="617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425" dirty="0">
                <a:solidFill>
                  <a:srgbClr val="EEEEF4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Diffusion 0.11, decay 0.15. Competitive: favours patches with </a:t>
            </a:r>
            <a:r>
              <a:rPr lang="en-US" sz="1425" dirty="0">
                <a:solidFill>
                  <a:srgbClr val="E87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own-direction </a:t>
            </a:r>
            <a:r>
              <a:rPr lang="en-US" sz="1425" dirty="0">
                <a:solidFill>
                  <a:srgbClr val="EEEEF4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traces, penalises patches with cross-direction traces</a:t>
            </a:r>
            <a:endParaRPr lang="en-US" sz="1425" dirty="0"/>
          </a:p>
        </p:txBody>
      </p:sp>
      <p:sp>
        <p:nvSpPr>
          <p:cNvPr id="22" name="Shape 20"/>
          <p:cNvSpPr/>
          <p:nvPr/>
        </p:nvSpPr>
        <p:spPr>
          <a:xfrm>
            <a:off x="9525000" y="7044184"/>
            <a:ext cx="7810500" cy="1507778"/>
          </a:xfrm>
          <a:prstGeom prst="roundRect">
            <a:avLst>
              <a:gd name="adj" fmla="val 7581"/>
            </a:avLst>
          </a:prstGeom>
          <a:solidFill>
            <a:srgbClr val="1C1C2E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9877425" y="7396609"/>
            <a:ext cx="731882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E87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REPULSIVE FIELD 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877425" y="7658546"/>
            <a:ext cx="7318820" cy="617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425" dirty="0">
                <a:solidFill>
                  <a:srgbClr val="EEEEF4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+0.6 on occupied cell, +0.2 on neighbours each tick — a discrete local cost, not a continuous Helbing-style force</a:t>
            </a:r>
            <a:endParaRPr lang="en-US" sz="1425" dirty="0"/>
          </a:p>
        </p:txBody>
      </p:sp>
      <p:sp>
        <p:nvSpPr>
          <p:cNvPr id="25" name="Text 23"/>
          <p:cNvSpPr/>
          <p:nvPr/>
        </p:nvSpPr>
        <p:spPr>
          <a:xfrm>
            <a:off x="16881797" y="9591675"/>
            <a:ext cx="52990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FFFFFF">
                    <a:alpha val="1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10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2070274"/>
            <a:ext cx="609600" cy="28575"/>
          </a:xfrm>
          <a:prstGeom prst="roundRect">
            <a:avLst>
              <a:gd name="adj" fmla="val 50000"/>
            </a:avLst>
          </a:prstGeom>
          <a:solidFill>
            <a:srgbClr val="E87C3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952500" y="2479849"/>
            <a:ext cx="1687449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17" dirty="0">
                <a:solidFill>
                  <a:srgbClr val="E87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1 — 50 RUNS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952500" y="2908474"/>
            <a:ext cx="16874490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kern="0" spc="-72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Fundamental diagram &amp; phase transition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952500" y="4292426"/>
            <a:ext cx="1971675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1143000" y="4001914"/>
            <a:ext cx="166687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b="1" kern="0" spc="78" dirty="0">
                <a:solidFill>
                  <a:srgbClr val="EEEEF4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PEDESTRIANS</a:t>
            </a:r>
            <a:endParaRPr lang="en-US" sz="975" dirty="0"/>
          </a:p>
        </p:txBody>
      </p:sp>
      <p:sp>
        <p:nvSpPr>
          <p:cNvPr id="7" name="Shape 5"/>
          <p:cNvSpPr/>
          <p:nvPr/>
        </p:nvSpPr>
        <p:spPr>
          <a:xfrm>
            <a:off x="2924175" y="4292426"/>
            <a:ext cx="2847901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3114675" y="4001914"/>
            <a:ext cx="2552338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b="1" kern="0" spc="78" dirty="0">
                <a:solidFill>
                  <a:srgbClr val="EEEEF4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DENSITY (PED/PATCH)</a:t>
            </a:r>
            <a:endParaRPr lang="en-US" sz="975" dirty="0"/>
          </a:p>
        </p:txBody>
      </p:sp>
      <p:sp>
        <p:nvSpPr>
          <p:cNvPr id="9" name="Shape 7"/>
          <p:cNvSpPr/>
          <p:nvPr/>
        </p:nvSpPr>
        <p:spPr>
          <a:xfrm>
            <a:off x="5772076" y="4292426"/>
            <a:ext cx="3086174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5869990" y="4001914"/>
            <a:ext cx="279776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975" b="1" kern="0" spc="78" dirty="0">
                <a:solidFill>
                  <a:srgbClr val="EEEEF4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EXIT TIME (TICKS)</a:t>
            </a:r>
            <a:endParaRPr lang="en-US" sz="975" dirty="0"/>
          </a:p>
        </p:txBody>
      </p:sp>
      <p:sp>
        <p:nvSpPr>
          <p:cNvPr id="11" name="Shape 9"/>
          <p:cNvSpPr/>
          <p:nvPr/>
        </p:nvSpPr>
        <p:spPr>
          <a:xfrm>
            <a:off x="952500" y="4882976"/>
            <a:ext cx="1971675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1143000" y="4454351"/>
            <a:ext cx="16668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2924175" y="4882976"/>
            <a:ext cx="2847901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3114675" y="4454351"/>
            <a:ext cx="255233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0.065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5772076" y="4882976"/>
            <a:ext cx="3086174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5869990" y="4454351"/>
            <a:ext cx="27977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150.2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952500" y="5473526"/>
            <a:ext cx="1971675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1143000" y="5044901"/>
            <a:ext cx="16668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2924175" y="5473526"/>
            <a:ext cx="2847901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3114675" y="5044901"/>
            <a:ext cx="255233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0.195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5772076" y="5473526"/>
            <a:ext cx="3086174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5869990" y="5044901"/>
            <a:ext cx="27977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159.1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952500" y="6064076"/>
            <a:ext cx="1971675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1143000" y="5635451"/>
            <a:ext cx="16668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2924175" y="6064076"/>
            <a:ext cx="2847901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3114675" y="5635451"/>
            <a:ext cx="255233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0.325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5772076" y="6064076"/>
            <a:ext cx="3086174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5869990" y="5635451"/>
            <a:ext cx="27977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175.5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952500" y="6654626"/>
            <a:ext cx="1971675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1143000" y="6226001"/>
            <a:ext cx="16668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240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2924175" y="6654626"/>
            <a:ext cx="2847901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3114675" y="6226001"/>
            <a:ext cx="255233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0.390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5772076" y="6654626"/>
            <a:ext cx="3086174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5869990" y="6226001"/>
            <a:ext cx="27977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184.3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952500" y="7245176"/>
            <a:ext cx="1971675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6" name="Text 34"/>
          <p:cNvSpPr/>
          <p:nvPr/>
        </p:nvSpPr>
        <p:spPr>
          <a:xfrm>
            <a:off x="1143000" y="6816551"/>
            <a:ext cx="16668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320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2924175" y="7245176"/>
            <a:ext cx="2847901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8" name="Text 36"/>
          <p:cNvSpPr/>
          <p:nvPr/>
        </p:nvSpPr>
        <p:spPr>
          <a:xfrm>
            <a:off x="3114675" y="6816551"/>
            <a:ext cx="255233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0.520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5772076" y="7245176"/>
            <a:ext cx="3086174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0" name="Text 38"/>
          <p:cNvSpPr/>
          <p:nvPr/>
        </p:nvSpPr>
        <p:spPr>
          <a:xfrm>
            <a:off x="5869990" y="6816551"/>
            <a:ext cx="27977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190.5</a:t>
            </a:r>
            <a:endParaRPr lang="en-US" sz="1650" dirty="0"/>
          </a:p>
        </p:txBody>
      </p:sp>
      <p:sp>
        <p:nvSpPr>
          <p:cNvPr id="41" name="Shape 39"/>
          <p:cNvSpPr/>
          <p:nvPr/>
        </p:nvSpPr>
        <p:spPr>
          <a:xfrm>
            <a:off x="952500" y="7254701"/>
            <a:ext cx="1971675" cy="585788"/>
          </a:xfrm>
          <a:prstGeom prst="rect">
            <a:avLst/>
          </a:prstGeom>
          <a:solidFill>
            <a:srgbClr val="E87C3A">
              <a:alpha val="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2" name="Text 40"/>
          <p:cNvSpPr/>
          <p:nvPr/>
        </p:nvSpPr>
        <p:spPr>
          <a:xfrm>
            <a:off x="1143000" y="7407101"/>
            <a:ext cx="1666875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E87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2924175" y="7254701"/>
            <a:ext cx="2847901" cy="585788"/>
          </a:xfrm>
          <a:prstGeom prst="rect">
            <a:avLst/>
          </a:prstGeom>
          <a:solidFill>
            <a:srgbClr val="E87C3A">
              <a:alpha val="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4" name="Text 42"/>
          <p:cNvSpPr/>
          <p:nvPr/>
        </p:nvSpPr>
        <p:spPr>
          <a:xfrm>
            <a:off x="3114675" y="7407101"/>
            <a:ext cx="2552338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E87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0.649</a:t>
            </a:r>
            <a:endParaRPr lang="en-US" sz="1650" dirty="0"/>
          </a:p>
        </p:txBody>
      </p:sp>
      <p:sp>
        <p:nvSpPr>
          <p:cNvPr id="45" name="Shape 43"/>
          <p:cNvSpPr/>
          <p:nvPr/>
        </p:nvSpPr>
        <p:spPr>
          <a:xfrm>
            <a:off x="5772076" y="7254701"/>
            <a:ext cx="3086174" cy="585788"/>
          </a:xfrm>
          <a:prstGeom prst="rect">
            <a:avLst/>
          </a:prstGeom>
          <a:solidFill>
            <a:srgbClr val="E87C3A">
              <a:alpha val="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6" name="Text 44"/>
          <p:cNvSpPr/>
          <p:nvPr/>
        </p:nvSpPr>
        <p:spPr>
          <a:xfrm>
            <a:off x="5869990" y="7407101"/>
            <a:ext cx="279776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E87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217.8</a:t>
            </a:r>
            <a:endParaRPr lang="en-US" sz="1650" dirty="0"/>
          </a:p>
        </p:txBody>
      </p:sp>
      <p:sp>
        <p:nvSpPr>
          <p:cNvPr id="47" name="Text 45"/>
          <p:cNvSpPr/>
          <p:nvPr/>
        </p:nvSpPr>
        <p:spPr>
          <a:xfrm>
            <a:off x="952500" y="8030989"/>
            <a:ext cx="8142923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EEEEF4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Normalised over 616 walkable patches. Ks=1.0, Kd=2.0, Kr=1.0, R=10.</a:t>
            </a:r>
            <a:endParaRPr lang="en-US" sz="1275" dirty="0"/>
          </a:p>
        </p:txBody>
      </p:sp>
      <p:sp>
        <p:nvSpPr>
          <p:cNvPr id="48" name="Shape 46"/>
          <p:cNvSpPr/>
          <p:nvPr/>
        </p:nvSpPr>
        <p:spPr>
          <a:xfrm>
            <a:off x="9429750" y="3868564"/>
            <a:ext cx="7905750" cy="1934394"/>
          </a:xfrm>
          <a:prstGeom prst="roundRect">
            <a:avLst>
              <a:gd name="adj" fmla="val 5909"/>
            </a:avLst>
          </a:prstGeom>
          <a:solidFill>
            <a:srgbClr val="1C1C2E"/>
          </a:solidFill>
          <a:ln w="9525">
            <a:solidFill>
              <a:srgbClr val="E87C3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9" name="Text 47"/>
          <p:cNvSpPr/>
          <p:nvPr/>
        </p:nvSpPr>
        <p:spPr>
          <a:xfrm>
            <a:off x="9782175" y="4220989"/>
            <a:ext cx="7416927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E87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9782175" y="4482926"/>
            <a:ext cx="7416927" cy="10438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650" dirty="0">
                <a:solidFill>
                  <a:srgbClr val="EEEEF4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time grows </a:t>
            </a:r>
            <a:r>
              <a:rPr lang="en-US" sz="1650" dirty="0">
                <a:solidFill>
                  <a:srgbClr val="E87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monotonically </a:t>
            </a:r>
            <a:r>
              <a:rPr lang="en-US" sz="1650" dirty="0">
                <a:solidFill>
                  <a:srgbClr val="EEEEF4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density, revealing a clear </a:t>
            </a:r>
            <a:r>
              <a:rPr lang="en-US" sz="1650" b="1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transition </a:t>
            </a:r>
            <a:r>
              <a:rPr lang="en-US" sz="1650" dirty="0">
                <a:solidFill>
                  <a:srgbClr val="EEEEF4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laminar to congested regime — consistent with Zhang (2012) fundamental diagrams</a:t>
            </a:r>
            <a:endParaRPr lang="en-US" sz="1650" dirty="0"/>
          </a:p>
        </p:txBody>
      </p:sp>
      <p:sp>
        <p:nvSpPr>
          <p:cNvPr id="51" name="Shape 49"/>
          <p:cNvSpPr/>
          <p:nvPr/>
        </p:nvSpPr>
        <p:spPr>
          <a:xfrm>
            <a:off x="9429750" y="6031557"/>
            <a:ext cx="7905750" cy="1797323"/>
          </a:xfrm>
          <a:prstGeom prst="roundRect">
            <a:avLst>
              <a:gd name="adj" fmla="val 6359"/>
            </a:avLst>
          </a:prstGeom>
          <a:solidFill>
            <a:srgbClr val="1C1C2E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2" name="Text 50"/>
          <p:cNvSpPr/>
          <p:nvPr/>
        </p:nvSpPr>
        <p:spPr>
          <a:xfrm>
            <a:off x="9782175" y="6383982"/>
            <a:ext cx="7416927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E87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9782175" y="6645920"/>
            <a:ext cx="7416927" cy="906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425" dirty="0">
                <a:solidFill>
                  <a:srgbClr val="EEEEF4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low density: near-free laminar flow. At high density: spatial occupation &amp; repulsion create intermittent, turbulent-like dynamics. The roundabout </a:t>
            </a:r>
            <a:r>
              <a:rPr lang="en-US" sz="1425" dirty="0">
                <a:solidFill>
                  <a:srgbClr val="E87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delays </a:t>
            </a:r>
            <a:r>
              <a:rPr lang="en-US" sz="1425" dirty="0">
                <a:solidFill>
                  <a:srgbClr val="EEEEF4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collapse vs. a direct crossing — but does not eliminate it.</a:t>
            </a:r>
            <a:endParaRPr lang="en-US" sz="1425" dirty="0"/>
          </a:p>
        </p:txBody>
      </p:sp>
      <p:sp>
        <p:nvSpPr>
          <p:cNvPr id="54" name="Text 52"/>
          <p:cNvSpPr/>
          <p:nvPr/>
        </p:nvSpPr>
        <p:spPr>
          <a:xfrm>
            <a:off x="16882765" y="9591675"/>
            <a:ext cx="52893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FFFFFF">
                    <a:alpha val="1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10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150293"/>
            <a:ext cx="609600" cy="28575"/>
          </a:xfrm>
          <a:prstGeom prst="roundRect">
            <a:avLst>
              <a:gd name="adj" fmla="val 50000"/>
            </a:avLst>
          </a:prstGeom>
          <a:solidFill>
            <a:srgbClr val="E87C3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952500" y="1559868"/>
            <a:ext cx="1687449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17" dirty="0">
                <a:solidFill>
                  <a:srgbClr val="E87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2 — 30 RUNS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952500" y="1988493"/>
            <a:ext cx="16874490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kern="0" spc="-72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Spontaneous vorticity &amp; self-organisation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952500" y="2986683"/>
            <a:ext cx="7905750" cy="1930673"/>
          </a:xfrm>
          <a:prstGeom prst="roundRect">
            <a:avLst>
              <a:gd name="adj" fmla="val 5920"/>
            </a:avLst>
          </a:prstGeom>
          <a:solidFill>
            <a:srgbClr val="1C1C2E"/>
          </a:solidFill>
          <a:ln w="9525">
            <a:solidFill>
              <a:srgbClr val="4ECB8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1304925" y="3339108"/>
            <a:ext cx="7416927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4EC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SURPRISING RESULT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304925" y="3601045"/>
            <a:ext cx="7416927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φ</a:t>
            </a:r>
            <a:r>
              <a:rPr lang="en-US" sz="1375" b="1" baseline="-40000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</a:t>
            </a:r>
            <a:r>
              <a:rPr lang="en-US" sz="1650" b="1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1.0 for ALL Kd values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304925" y="4023940"/>
            <a:ext cx="7416927" cy="617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425" dirty="0">
                <a:solidFill>
                  <a:srgbClr val="EEEEF4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parameter reaches maximum regardless of dynamic field strength — even at </a:t>
            </a:r>
            <a:r>
              <a:rPr lang="en-US" sz="1425" b="1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Kd = 0 </a:t>
            </a:r>
            <a:r>
              <a:rPr lang="en-US" sz="1425" dirty="0">
                <a:solidFill>
                  <a:srgbClr val="EEEEF4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Stabilisation tick = 0 in every run.</a:t>
            </a:r>
            <a:endParaRPr lang="en-US" sz="1425" dirty="0"/>
          </a:p>
        </p:txBody>
      </p:sp>
      <p:sp>
        <p:nvSpPr>
          <p:cNvPr id="9" name="Shape 7"/>
          <p:cNvSpPr/>
          <p:nvPr/>
        </p:nvSpPr>
        <p:spPr>
          <a:xfrm>
            <a:off x="952500" y="5184056"/>
            <a:ext cx="7905750" cy="1888629"/>
          </a:xfrm>
          <a:prstGeom prst="roundRect">
            <a:avLst>
              <a:gd name="adj" fmla="val 6052"/>
            </a:avLst>
          </a:prstGeom>
          <a:solidFill>
            <a:srgbClr val="1C1C2E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1304925" y="5536481"/>
            <a:ext cx="7416927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E87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EXPLANATION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304925" y="5798418"/>
            <a:ext cx="7416927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75" dirty="0">
                <a:solidFill>
                  <a:srgbClr val="EEEEF4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linear corridor, Kd is required to build lane formation. In a roundabout, the geometry </a:t>
            </a:r>
            <a:r>
              <a:rPr lang="en-US" sz="1575" dirty="0">
                <a:solidFill>
                  <a:srgbClr val="E87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imposes </a:t>
            </a:r>
            <a:r>
              <a:rPr lang="en-US" sz="1575" dirty="0">
                <a:solidFill>
                  <a:srgbClr val="EEEEF4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ordered state: island + BFS penalty trick → immediate tangential segregation. Kd refines; it does not found the order.</a:t>
            </a:r>
            <a:endParaRPr lang="en-US" sz="1575" dirty="0"/>
          </a:p>
        </p:txBody>
      </p:sp>
      <p:sp>
        <p:nvSpPr>
          <p:cNvPr id="12" name="Shape 10"/>
          <p:cNvSpPr/>
          <p:nvPr/>
        </p:nvSpPr>
        <p:spPr>
          <a:xfrm>
            <a:off x="952500" y="7339385"/>
            <a:ext cx="7905750" cy="1797323"/>
          </a:xfrm>
          <a:prstGeom prst="roundRect">
            <a:avLst>
              <a:gd name="adj" fmla="val 6359"/>
            </a:avLst>
          </a:prstGeom>
          <a:solidFill>
            <a:srgbClr val="1C1C2E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1304925" y="7691810"/>
            <a:ext cx="7416927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E87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 READING (HELBING ET AL. 2005)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304925" y="7953747"/>
            <a:ext cx="7416927" cy="906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425" dirty="0">
                <a:solidFill>
                  <a:srgbClr val="EEEEF4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roundabout is a </a:t>
            </a:r>
            <a:r>
              <a:rPr lang="en-US" sz="1425" dirty="0">
                <a:solidFill>
                  <a:srgbClr val="E87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catalyst </a:t>
            </a:r>
            <a:r>
              <a:rPr lang="en-US" sz="1425" dirty="0">
                <a:solidFill>
                  <a:srgbClr val="EEEEF4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self-organisation — more radical than emergent lane formation: the symmetry-breaking is built into the architecture, not negotiated by agents.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9429750" y="2986683"/>
            <a:ext cx="814292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08" dirty="0">
                <a:solidFill>
                  <a:srgbClr val="EEEEF4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SEGREGATION INDEX Φ BY KD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429750" y="3510558"/>
            <a:ext cx="10287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EE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Kd = 0.0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72750" y="3439120"/>
            <a:ext cx="6762750" cy="342900"/>
          </a:xfrm>
          <a:prstGeom prst="roundRect">
            <a:avLst>
              <a:gd name="adj" fmla="val 11111"/>
            </a:avLst>
          </a:prstGeom>
          <a:solidFill>
            <a:srgbClr val="1C1C2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10572750" y="3439120"/>
            <a:ext cx="6762750" cy="342900"/>
          </a:xfrm>
          <a:prstGeom prst="roundRect">
            <a:avLst>
              <a:gd name="adj" fmla="val 11111"/>
            </a:avLst>
          </a:prstGeom>
          <a:solidFill>
            <a:srgbClr val="4ECB8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10706100" y="3439120"/>
            <a:ext cx="683228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429750" y="4024908"/>
            <a:ext cx="10287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EE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Kd = 0.5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572750" y="3953470"/>
            <a:ext cx="6762750" cy="342900"/>
          </a:xfrm>
          <a:prstGeom prst="roundRect">
            <a:avLst>
              <a:gd name="adj" fmla="val 11111"/>
            </a:avLst>
          </a:prstGeom>
          <a:solidFill>
            <a:srgbClr val="1C1C2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Shape 20"/>
          <p:cNvSpPr/>
          <p:nvPr/>
        </p:nvSpPr>
        <p:spPr>
          <a:xfrm>
            <a:off x="10572750" y="3953470"/>
            <a:ext cx="6762750" cy="342900"/>
          </a:xfrm>
          <a:prstGeom prst="roundRect">
            <a:avLst>
              <a:gd name="adj" fmla="val 11111"/>
            </a:avLst>
          </a:prstGeom>
          <a:solidFill>
            <a:srgbClr val="4ECB8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10706100" y="3953470"/>
            <a:ext cx="683228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429750" y="4539258"/>
            <a:ext cx="10287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EE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Kd = 1.0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572750" y="4467820"/>
            <a:ext cx="6762750" cy="342900"/>
          </a:xfrm>
          <a:prstGeom prst="roundRect">
            <a:avLst>
              <a:gd name="adj" fmla="val 11111"/>
            </a:avLst>
          </a:prstGeom>
          <a:solidFill>
            <a:srgbClr val="1C1C2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Shape 24"/>
          <p:cNvSpPr/>
          <p:nvPr/>
        </p:nvSpPr>
        <p:spPr>
          <a:xfrm>
            <a:off x="10572750" y="4467820"/>
            <a:ext cx="6762750" cy="342900"/>
          </a:xfrm>
          <a:prstGeom prst="roundRect">
            <a:avLst>
              <a:gd name="adj" fmla="val 11111"/>
            </a:avLst>
          </a:prstGeom>
          <a:solidFill>
            <a:srgbClr val="4ECB8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10706100" y="4467820"/>
            <a:ext cx="683228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429750" y="5053608"/>
            <a:ext cx="10287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EE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Kd = 2.0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0572750" y="4982170"/>
            <a:ext cx="6762750" cy="342900"/>
          </a:xfrm>
          <a:prstGeom prst="roundRect">
            <a:avLst>
              <a:gd name="adj" fmla="val 11111"/>
            </a:avLst>
          </a:prstGeom>
          <a:solidFill>
            <a:srgbClr val="1C1C2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0" name="Shape 28"/>
          <p:cNvSpPr/>
          <p:nvPr/>
        </p:nvSpPr>
        <p:spPr>
          <a:xfrm>
            <a:off x="10572750" y="4982170"/>
            <a:ext cx="6762750" cy="342900"/>
          </a:xfrm>
          <a:prstGeom prst="roundRect">
            <a:avLst>
              <a:gd name="adj" fmla="val 11111"/>
            </a:avLst>
          </a:prstGeom>
          <a:solidFill>
            <a:srgbClr val="4ECB8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10706100" y="4982170"/>
            <a:ext cx="683228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429750" y="5567958"/>
            <a:ext cx="10287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EE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Kd = 4.0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0572750" y="5496520"/>
            <a:ext cx="6762750" cy="342900"/>
          </a:xfrm>
          <a:prstGeom prst="roundRect">
            <a:avLst>
              <a:gd name="adj" fmla="val 11111"/>
            </a:avLst>
          </a:prstGeom>
          <a:solidFill>
            <a:srgbClr val="1C1C2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4" name="Shape 32"/>
          <p:cNvSpPr/>
          <p:nvPr/>
        </p:nvSpPr>
        <p:spPr>
          <a:xfrm>
            <a:off x="10572750" y="5496520"/>
            <a:ext cx="6762750" cy="342900"/>
          </a:xfrm>
          <a:prstGeom prst="roundRect">
            <a:avLst>
              <a:gd name="adj" fmla="val 11111"/>
            </a:avLst>
          </a:prstGeom>
          <a:solidFill>
            <a:srgbClr val="4ECB8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10706100" y="5496520"/>
            <a:ext cx="683228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429750" y="6082308"/>
            <a:ext cx="10287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EE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Kd = 8.0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0572750" y="6010870"/>
            <a:ext cx="6762750" cy="342900"/>
          </a:xfrm>
          <a:prstGeom prst="roundRect">
            <a:avLst>
              <a:gd name="adj" fmla="val 11111"/>
            </a:avLst>
          </a:prstGeom>
          <a:solidFill>
            <a:srgbClr val="1C1C2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8" name="Shape 36"/>
          <p:cNvSpPr/>
          <p:nvPr/>
        </p:nvSpPr>
        <p:spPr>
          <a:xfrm>
            <a:off x="10572750" y="6010870"/>
            <a:ext cx="6762750" cy="342900"/>
          </a:xfrm>
          <a:prstGeom prst="roundRect">
            <a:avLst>
              <a:gd name="adj" fmla="val 11111"/>
            </a:avLst>
          </a:prstGeom>
          <a:solidFill>
            <a:srgbClr val="4ECB8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9" name="Text 37"/>
          <p:cNvSpPr/>
          <p:nvPr/>
        </p:nvSpPr>
        <p:spPr>
          <a:xfrm>
            <a:off x="10706100" y="6010870"/>
            <a:ext cx="683228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429750" y="6620470"/>
            <a:ext cx="8142923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EEEEF4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n=160 pedestrians · φ stabilisation tick = 0 in all runs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6880681" y="9591675"/>
            <a:ext cx="53101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FFFFFF">
                    <a:alpha val="1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10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540743"/>
            <a:ext cx="609600" cy="28575"/>
          </a:xfrm>
          <a:prstGeom prst="roundRect">
            <a:avLst>
              <a:gd name="adj" fmla="val 50000"/>
            </a:avLst>
          </a:prstGeom>
          <a:solidFill>
            <a:srgbClr val="E87C3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952500" y="1950318"/>
            <a:ext cx="1687449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17" dirty="0">
                <a:solidFill>
                  <a:srgbClr val="E87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3 — 20 RUNS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952500" y="2378943"/>
            <a:ext cx="16874490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kern="0" spc="-72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Island radius vs. throughput — the clogging effect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952500" y="3762896"/>
            <a:ext cx="2140967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1143000" y="3472383"/>
            <a:ext cx="1836167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b="1" kern="0" spc="78" dirty="0">
                <a:solidFill>
                  <a:srgbClr val="EEEEF4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ISLAND RADIUS</a:t>
            </a:r>
            <a:endParaRPr lang="en-US" sz="975" dirty="0"/>
          </a:p>
        </p:txBody>
      </p:sp>
      <p:sp>
        <p:nvSpPr>
          <p:cNvPr id="7" name="Shape 5"/>
          <p:cNvSpPr/>
          <p:nvPr/>
        </p:nvSpPr>
        <p:spPr>
          <a:xfrm>
            <a:off x="3093467" y="3762896"/>
            <a:ext cx="2692598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3203189" y="3472383"/>
            <a:ext cx="2392376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975" b="1" kern="0" spc="78" dirty="0">
                <a:solidFill>
                  <a:srgbClr val="EEEEF4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THROUGHPUT</a:t>
            </a:r>
            <a:endParaRPr lang="en-US" sz="975" dirty="0"/>
          </a:p>
        </p:txBody>
      </p:sp>
      <p:sp>
        <p:nvSpPr>
          <p:cNvPr id="9" name="Shape 7"/>
          <p:cNvSpPr/>
          <p:nvPr/>
        </p:nvSpPr>
        <p:spPr>
          <a:xfrm>
            <a:off x="5786065" y="3762896"/>
            <a:ext cx="3072185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5884400" y="3472383"/>
            <a:ext cx="27833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975" b="1" kern="0" spc="78" dirty="0">
                <a:solidFill>
                  <a:srgbClr val="EEEEF4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EXIT TIME (TICKS)</a:t>
            </a:r>
            <a:endParaRPr lang="en-US" sz="975" dirty="0"/>
          </a:p>
        </p:txBody>
      </p:sp>
      <p:sp>
        <p:nvSpPr>
          <p:cNvPr id="11" name="Shape 9"/>
          <p:cNvSpPr/>
          <p:nvPr/>
        </p:nvSpPr>
        <p:spPr>
          <a:xfrm>
            <a:off x="952500" y="3772421"/>
            <a:ext cx="2140967" cy="604838"/>
          </a:xfrm>
          <a:prstGeom prst="rect">
            <a:avLst/>
          </a:prstGeom>
          <a:solidFill>
            <a:srgbClr val="E87C3A">
              <a:alpha val="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952500" y="4367733"/>
            <a:ext cx="2140967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1143000" y="3924821"/>
            <a:ext cx="183616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E87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5 ✦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3093467" y="3772421"/>
            <a:ext cx="2692598" cy="604838"/>
          </a:xfrm>
          <a:prstGeom prst="rect">
            <a:avLst/>
          </a:prstGeom>
          <a:solidFill>
            <a:srgbClr val="E87C3A">
              <a:alpha val="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3093467" y="4367733"/>
            <a:ext cx="2692598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3203189" y="3924821"/>
            <a:ext cx="239237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E87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1052.6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5786065" y="3772421"/>
            <a:ext cx="3072185" cy="604838"/>
          </a:xfrm>
          <a:prstGeom prst="rect">
            <a:avLst/>
          </a:prstGeom>
          <a:solidFill>
            <a:srgbClr val="E87C3A">
              <a:alpha val="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5786065" y="4367733"/>
            <a:ext cx="3072185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5884400" y="3924821"/>
            <a:ext cx="278335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E87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199.5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952500" y="4958283"/>
            <a:ext cx="2140967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1143000" y="4529658"/>
            <a:ext cx="183616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8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3093467" y="4958283"/>
            <a:ext cx="2692598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3203189" y="4529658"/>
            <a:ext cx="239237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980.8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5786065" y="4958283"/>
            <a:ext cx="3072185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5884400" y="4529658"/>
            <a:ext cx="27833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212.7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952500" y="5548833"/>
            <a:ext cx="2140967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1143000" y="5120208"/>
            <a:ext cx="183616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3093467" y="5548833"/>
            <a:ext cx="2692598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3203189" y="5120208"/>
            <a:ext cx="239237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951.4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5786065" y="5548833"/>
            <a:ext cx="3072185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5884400" y="5120208"/>
            <a:ext cx="27833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220.9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1143000" y="5710758"/>
            <a:ext cx="183616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12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3203189" y="5710758"/>
            <a:ext cx="2392376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888.2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5884400" y="5710758"/>
            <a:ext cx="27833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230.4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952500" y="6334646"/>
            <a:ext cx="8142923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EEEEF4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n=240 pedestrians · lane-width=8 · R=15 excluded (invalid geometry)</a:t>
            </a:r>
            <a:endParaRPr lang="en-US" sz="1275" dirty="0"/>
          </a:p>
        </p:txBody>
      </p:sp>
      <p:sp>
        <p:nvSpPr>
          <p:cNvPr id="36" name="Text 34"/>
          <p:cNvSpPr/>
          <p:nvPr/>
        </p:nvSpPr>
        <p:spPr>
          <a:xfrm>
            <a:off x="952500" y="6896621"/>
            <a:ext cx="10287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EE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095500" y="6825183"/>
            <a:ext cx="6762750" cy="342900"/>
          </a:xfrm>
          <a:prstGeom prst="roundRect">
            <a:avLst>
              <a:gd name="adj" fmla="val 11111"/>
            </a:avLst>
          </a:prstGeom>
          <a:solidFill>
            <a:srgbClr val="1C1C2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8" name="Shape 36"/>
          <p:cNvSpPr/>
          <p:nvPr/>
        </p:nvSpPr>
        <p:spPr>
          <a:xfrm>
            <a:off x="2095500" y="6825183"/>
            <a:ext cx="6762750" cy="342900"/>
          </a:xfrm>
          <a:prstGeom prst="roundRect">
            <a:avLst>
              <a:gd name="adj" fmla="val 11111"/>
            </a:avLst>
          </a:prstGeom>
          <a:solidFill>
            <a:srgbClr val="E87C3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9" name="Text 37"/>
          <p:cNvSpPr/>
          <p:nvPr/>
        </p:nvSpPr>
        <p:spPr>
          <a:xfrm>
            <a:off x="2228850" y="6825183"/>
            <a:ext cx="683228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1053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52500" y="7410971"/>
            <a:ext cx="10287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EE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8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2095500" y="7339533"/>
            <a:ext cx="6762750" cy="342900"/>
          </a:xfrm>
          <a:prstGeom prst="roundRect">
            <a:avLst>
              <a:gd name="adj" fmla="val 11111"/>
            </a:avLst>
          </a:prstGeom>
          <a:solidFill>
            <a:srgbClr val="1C1C2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2" name="Shape 40"/>
          <p:cNvSpPr/>
          <p:nvPr/>
        </p:nvSpPr>
        <p:spPr>
          <a:xfrm>
            <a:off x="2095500" y="7339533"/>
            <a:ext cx="6289328" cy="342900"/>
          </a:xfrm>
          <a:prstGeom prst="roundRect">
            <a:avLst>
              <a:gd name="adj" fmla="val 11111"/>
            </a:avLst>
          </a:prstGeom>
          <a:solidFill>
            <a:srgbClr val="E87C3A">
              <a:alpha val="6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3" name="Text 41"/>
          <p:cNvSpPr/>
          <p:nvPr/>
        </p:nvSpPr>
        <p:spPr>
          <a:xfrm>
            <a:off x="2228850" y="7339533"/>
            <a:ext cx="634465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981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52500" y="7925321"/>
            <a:ext cx="10287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EE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10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2095500" y="7853883"/>
            <a:ext cx="6762750" cy="342900"/>
          </a:xfrm>
          <a:prstGeom prst="roundRect">
            <a:avLst>
              <a:gd name="adj" fmla="val 11111"/>
            </a:avLst>
          </a:prstGeom>
          <a:solidFill>
            <a:srgbClr val="1C1C2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6" name="Shape 44"/>
          <p:cNvSpPr/>
          <p:nvPr/>
        </p:nvSpPr>
        <p:spPr>
          <a:xfrm>
            <a:off x="2095500" y="7853883"/>
            <a:ext cx="6086475" cy="342900"/>
          </a:xfrm>
          <a:prstGeom prst="roundRect">
            <a:avLst>
              <a:gd name="adj" fmla="val 11111"/>
            </a:avLst>
          </a:prstGeom>
          <a:solidFill>
            <a:srgbClr val="E87C3A">
              <a:alpha val="4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7" name="Text 45"/>
          <p:cNvSpPr/>
          <p:nvPr/>
        </p:nvSpPr>
        <p:spPr>
          <a:xfrm>
            <a:off x="2228850" y="7853883"/>
            <a:ext cx="613571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951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952500" y="8439671"/>
            <a:ext cx="10287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EE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12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2095500" y="8368233"/>
            <a:ext cx="6762750" cy="342900"/>
          </a:xfrm>
          <a:prstGeom prst="roundRect">
            <a:avLst>
              <a:gd name="adj" fmla="val 11111"/>
            </a:avLst>
          </a:prstGeom>
          <a:solidFill>
            <a:srgbClr val="1C1C2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0" name="Shape 48"/>
          <p:cNvSpPr/>
          <p:nvPr/>
        </p:nvSpPr>
        <p:spPr>
          <a:xfrm>
            <a:off x="2095500" y="8368233"/>
            <a:ext cx="5680695" cy="342900"/>
          </a:xfrm>
          <a:prstGeom prst="roundRect">
            <a:avLst>
              <a:gd name="adj" fmla="val 11111"/>
            </a:avLst>
          </a:prstGeom>
          <a:solidFill>
            <a:srgbClr val="E87C3A">
              <a:alpha val="2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1" name="Text 49"/>
          <p:cNvSpPr/>
          <p:nvPr/>
        </p:nvSpPr>
        <p:spPr>
          <a:xfrm>
            <a:off x="2228850" y="8368233"/>
            <a:ext cx="571776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888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9429750" y="3339033"/>
            <a:ext cx="7905750" cy="1934394"/>
          </a:xfrm>
          <a:prstGeom prst="roundRect">
            <a:avLst>
              <a:gd name="adj" fmla="val 5909"/>
            </a:avLst>
          </a:prstGeom>
          <a:solidFill>
            <a:srgbClr val="1C1C2E"/>
          </a:solidFill>
          <a:ln w="9525">
            <a:solidFill>
              <a:srgbClr val="E87C3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3" name="Text 51"/>
          <p:cNvSpPr/>
          <p:nvPr/>
        </p:nvSpPr>
        <p:spPr>
          <a:xfrm>
            <a:off x="9782175" y="3691458"/>
            <a:ext cx="7416927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E87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9782175" y="3953396"/>
            <a:ext cx="7416927" cy="10438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650" dirty="0">
                <a:solidFill>
                  <a:srgbClr val="EEEEF4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larger island does </a:t>
            </a:r>
            <a:r>
              <a:rPr lang="en-US" sz="1650" dirty="0">
                <a:solidFill>
                  <a:srgbClr val="E87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</a:t>
            </a:r>
            <a:r>
              <a:rPr lang="en-US" sz="1650" dirty="0">
                <a:solidFill>
                  <a:srgbClr val="EEEEF4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monotonically improve performance. Beyond a critical threshold it narrows the ring, lengthens paths, and increases occupancy time — producing a </a:t>
            </a:r>
            <a:r>
              <a:rPr lang="en-US" sz="1650" b="1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geometric clogging effect</a:t>
            </a:r>
            <a:r>
              <a:rPr lang="en-US" sz="1650" dirty="0">
                <a:solidFill>
                  <a:srgbClr val="EEEEF4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50" dirty="0"/>
          </a:p>
        </p:txBody>
      </p:sp>
      <p:sp>
        <p:nvSpPr>
          <p:cNvPr id="55" name="Shape 53"/>
          <p:cNvSpPr/>
          <p:nvPr/>
        </p:nvSpPr>
        <p:spPr>
          <a:xfrm>
            <a:off x="9429750" y="5502027"/>
            <a:ext cx="7905750" cy="1507778"/>
          </a:xfrm>
          <a:prstGeom prst="roundRect">
            <a:avLst>
              <a:gd name="adj" fmla="val 7581"/>
            </a:avLst>
          </a:prstGeom>
          <a:solidFill>
            <a:srgbClr val="1C1C2E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6" name="Text 54"/>
          <p:cNvSpPr/>
          <p:nvPr/>
        </p:nvSpPr>
        <p:spPr>
          <a:xfrm>
            <a:off x="9782175" y="5854452"/>
            <a:ext cx="7416927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E87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LINK — YANAGISAWA (2019)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9782175" y="6116389"/>
            <a:ext cx="7416927" cy="617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425" dirty="0">
                <a:solidFill>
                  <a:srgbClr val="EEEEF4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central obstacle streamlines flow only within a useful geometric window. Our data confirm: smaller R = more efficient in this configuration.</a:t>
            </a:r>
            <a:endParaRPr lang="en-US" sz="1425" dirty="0"/>
          </a:p>
        </p:txBody>
      </p:sp>
      <p:sp>
        <p:nvSpPr>
          <p:cNvPr id="58" name="Shape 56"/>
          <p:cNvSpPr/>
          <p:nvPr/>
        </p:nvSpPr>
        <p:spPr>
          <a:xfrm>
            <a:off x="9429750" y="7238405"/>
            <a:ext cx="7905750" cy="1507778"/>
          </a:xfrm>
          <a:prstGeom prst="roundRect">
            <a:avLst>
              <a:gd name="adj" fmla="val 7581"/>
            </a:avLst>
          </a:prstGeom>
          <a:solidFill>
            <a:srgbClr val="1C1C2E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9" name="Text 57"/>
          <p:cNvSpPr/>
          <p:nvPr/>
        </p:nvSpPr>
        <p:spPr>
          <a:xfrm>
            <a:off x="9782175" y="7590830"/>
            <a:ext cx="7416927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E87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IMPLICATION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9782175" y="7852767"/>
            <a:ext cx="7416927" cy="617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425" dirty="0">
                <a:solidFill>
                  <a:srgbClr val="EEEEF4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exists a </a:t>
            </a:r>
            <a:r>
              <a:rPr lang="en-US" sz="1425" dirty="0">
                <a:solidFill>
                  <a:srgbClr val="E87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minimum island radius </a:t>
            </a:r>
            <a:r>
              <a:rPr lang="en-US" sz="1425" dirty="0">
                <a:solidFill>
                  <a:srgbClr val="EEEEF4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large enough to eliminate frontal conflict, small enough not to become a dissipative barrier.</a:t>
            </a:r>
            <a:endParaRPr lang="en-US" sz="1425" dirty="0"/>
          </a:p>
        </p:txBody>
      </p:sp>
      <p:sp>
        <p:nvSpPr>
          <p:cNvPr id="61" name="Text 59"/>
          <p:cNvSpPr/>
          <p:nvPr/>
        </p:nvSpPr>
        <p:spPr>
          <a:xfrm>
            <a:off x="16893853" y="9591675"/>
            <a:ext cx="51784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FFFFFF">
                    <a:alpha val="1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10</a:t>
            </a:r>
            <a:endParaRPr lang="en-US" sz="9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563588"/>
            <a:ext cx="609600" cy="28575"/>
          </a:xfrm>
          <a:prstGeom prst="roundRect">
            <a:avLst>
              <a:gd name="adj" fmla="val 50000"/>
            </a:avLst>
          </a:prstGeom>
          <a:solidFill>
            <a:srgbClr val="E87C3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952500" y="1973163"/>
            <a:ext cx="1687449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17" dirty="0">
                <a:solidFill>
                  <a:srgbClr val="E87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4 — 20 RUNS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952500" y="2401788"/>
            <a:ext cx="16874490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kern="0" spc="-72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Geometry buffers repulsion stress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952500" y="3785741"/>
            <a:ext cx="1190625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1143000" y="3495229"/>
            <a:ext cx="88582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b="1" kern="0" spc="78" dirty="0">
                <a:solidFill>
                  <a:srgbClr val="EEEEF4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</a:t>
            </a:r>
            <a:endParaRPr lang="en-US" sz="975" dirty="0"/>
          </a:p>
        </p:txBody>
      </p:sp>
      <p:sp>
        <p:nvSpPr>
          <p:cNvPr id="7" name="Shape 5"/>
          <p:cNvSpPr/>
          <p:nvPr/>
        </p:nvSpPr>
        <p:spPr>
          <a:xfrm>
            <a:off x="2143125" y="3785741"/>
            <a:ext cx="1756544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2257425" y="3495229"/>
            <a:ext cx="1451744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975" b="1" kern="0" spc="78" dirty="0">
                <a:solidFill>
                  <a:srgbClr val="EEEEF4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EFF. SPEED</a:t>
            </a:r>
            <a:endParaRPr lang="en-US" sz="975" dirty="0"/>
          </a:p>
        </p:txBody>
      </p:sp>
      <p:sp>
        <p:nvSpPr>
          <p:cNvPr id="9" name="Shape 7"/>
          <p:cNvSpPr/>
          <p:nvPr/>
        </p:nvSpPr>
        <p:spPr>
          <a:xfrm>
            <a:off x="3899669" y="3785741"/>
            <a:ext cx="2318817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4013969" y="3495229"/>
            <a:ext cx="2014017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975" b="1" kern="0" spc="78" dirty="0">
                <a:solidFill>
                  <a:srgbClr val="EEEEF4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EXIT TIME</a:t>
            </a:r>
            <a:endParaRPr lang="en-US" sz="975" dirty="0"/>
          </a:p>
        </p:txBody>
      </p:sp>
      <p:sp>
        <p:nvSpPr>
          <p:cNvPr id="11" name="Shape 9"/>
          <p:cNvSpPr/>
          <p:nvPr/>
        </p:nvSpPr>
        <p:spPr>
          <a:xfrm>
            <a:off x="6218486" y="3785741"/>
            <a:ext cx="2639764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6329793" y="3495229"/>
            <a:ext cx="2337957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975" b="1" kern="0" spc="78" dirty="0">
                <a:solidFill>
                  <a:srgbClr val="EEEEF4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THROUGHPUT/TICK</a:t>
            </a:r>
            <a:endParaRPr lang="en-US" sz="975" dirty="0"/>
          </a:p>
        </p:txBody>
      </p:sp>
      <p:sp>
        <p:nvSpPr>
          <p:cNvPr id="13" name="Shape 11"/>
          <p:cNvSpPr/>
          <p:nvPr/>
        </p:nvSpPr>
        <p:spPr>
          <a:xfrm>
            <a:off x="952500" y="4376291"/>
            <a:ext cx="1190625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1143000" y="3947666"/>
            <a:ext cx="88582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EE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2143125" y="4376291"/>
            <a:ext cx="1756544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2257425" y="3947666"/>
            <a:ext cx="145174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0.082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3899669" y="4376291"/>
            <a:ext cx="2318817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4013969" y="3947666"/>
            <a:ext cx="201401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204.7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6218486" y="4376291"/>
            <a:ext cx="2639764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6329793" y="3947666"/>
            <a:ext cx="233795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952500" y="4966841"/>
            <a:ext cx="1190625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1143000" y="4538216"/>
            <a:ext cx="88582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EE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2143125" y="4966841"/>
            <a:ext cx="1756544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2257425" y="4538216"/>
            <a:ext cx="145174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0.086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3899669" y="4966841"/>
            <a:ext cx="2318817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4013969" y="4538216"/>
            <a:ext cx="201401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195.2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6218486" y="4966841"/>
            <a:ext cx="2639764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6329793" y="4538216"/>
            <a:ext cx="233795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952500" y="5557391"/>
            <a:ext cx="1190625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1143000" y="5128766"/>
            <a:ext cx="88582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EE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2.0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2143125" y="5557391"/>
            <a:ext cx="1756544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2257425" y="5128766"/>
            <a:ext cx="145174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0.070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3899669" y="5557391"/>
            <a:ext cx="2318817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4013969" y="5128766"/>
            <a:ext cx="201401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181.1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6218486" y="5557391"/>
            <a:ext cx="2639764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6" name="Text 34"/>
          <p:cNvSpPr/>
          <p:nvPr/>
        </p:nvSpPr>
        <p:spPr>
          <a:xfrm>
            <a:off x="6329793" y="5128766"/>
            <a:ext cx="233795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1143000" y="5719316"/>
            <a:ext cx="885825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EE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5.0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2257425" y="5719316"/>
            <a:ext cx="145174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0.095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4013969" y="5719316"/>
            <a:ext cx="201401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173.7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6329793" y="5719316"/>
            <a:ext cx="233795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</a:t>
            </a:r>
            <a:endParaRPr lang="en-US" sz="1650" dirty="0"/>
          </a:p>
        </p:txBody>
      </p:sp>
      <p:sp>
        <p:nvSpPr>
          <p:cNvPr id="41" name="Text 39"/>
          <p:cNvSpPr/>
          <p:nvPr/>
        </p:nvSpPr>
        <p:spPr>
          <a:xfrm>
            <a:off x="952500" y="6343204"/>
            <a:ext cx="8142923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EEEEF4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n=160 pedestrians · Ks=1.0 · Kd=2.0</a:t>
            </a:r>
            <a:endParaRPr lang="en-US" sz="1275" dirty="0"/>
          </a:p>
        </p:txBody>
      </p:sp>
      <p:sp>
        <p:nvSpPr>
          <p:cNvPr id="42" name="Shape 40"/>
          <p:cNvSpPr/>
          <p:nvPr/>
        </p:nvSpPr>
        <p:spPr>
          <a:xfrm>
            <a:off x="9429750" y="3361879"/>
            <a:ext cx="7905750" cy="1599158"/>
          </a:xfrm>
          <a:prstGeom prst="roundRect">
            <a:avLst>
              <a:gd name="adj" fmla="val 7148"/>
            </a:avLst>
          </a:prstGeom>
          <a:solidFill>
            <a:srgbClr val="1C1C2E"/>
          </a:solidFill>
          <a:ln w="9525">
            <a:solidFill>
              <a:srgbClr val="5B8DE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Text 41"/>
          <p:cNvSpPr/>
          <p:nvPr/>
        </p:nvSpPr>
        <p:spPr>
          <a:xfrm>
            <a:off x="9782175" y="3714304"/>
            <a:ext cx="7416927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5B8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NON-MONOTONIC RESULT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782175" y="3976241"/>
            <a:ext cx="7416927" cy="708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650" dirty="0">
                <a:solidFill>
                  <a:srgbClr val="EEEEF4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do </a:t>
            </a:r>
            <a:r>
              <a:rPr lang="en-US" sz="1650" dirty="0">
                <a:solidFill>
                  <a:srgbClr val="E87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</a:t>
            </a:r>
            <a:r>
              <a:rPr lang="en-US" sz="1650" dirty="0">
                <a:solidFill>
                  <a:srgbClr val="EEEEF4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a simple trend with Kr — a signature of non-linear interactions between exclusion, geometry, and stochasticity.</a:t>
            </a:r>
            <a:endParaRPr lang="en-US" sz="1650" dirty="0"/>
          </a:p>
        </p:txBody>
      </p:sp>
      <p:sp>
        <p:nvSpPr>
          <p:cNvPr id="45" name="Shape 43"/>
          <p:cNvSpPr/>
          <p:nvPr/>
        </p:nvSpPr>
        <p:spPr>
          <a:xfrm>
            <a:off x="9429750" y="5189637"/>
            <a:ext cx="7905750" cy="1797323"/>
          </a:xfrm>
          <a:prstGeom prst="roundRect">
            <a:avLst>
              <a:gd name="adj" fmla="val 6359"/>
            </a:avLst>
          </a:prstGeom>
          <a:solidFill>
            <a:srgbClr val="1C1C2E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6" name="Text 44"/>
          <p:cNvSpPr/>
          <p:nvPr/>
        </p:nvSpPr>
        <p:spPr>
          <a:xfrm>
            <a:off x="9782175" y="5542062"/>
            <a:ext cx="7416927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E87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 CONCLUSION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9782175" y="5803999"/>
            <a:ext cx="7416927" cy="906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425" dirty="0">
                <a:solidFill>
                  <a:srgbClr val="EEEEF4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does </a:t>
            </a:r>
            <a:r>
              <a:rPr lang="en-US" sz="1425" b="1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collapse </a:t>
            </a:r>
            <a:r>
              <a:rPr lang="en-US" sz="1425" dirty="0">
                <a:solidFill>
                  <a:srgbClr val="EEEEF4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high repulsion. The roundabout </a:t>
            </a:r>
            <a:r>
              <a:rPr lang="en-US" sz="1425" dirty="0">
                <a:solidFill>
                  <a:srgbClr val="E87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converts frontal encounters into tangential ones </a:t>
            </a:r>
            <a:r>
              <a:rPr lang="en-US" sz="1425" dirty="0">
                <a:solidFill>
                  <a:srgbClr val="EEEEF4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precisely the configurations where repulsion causes stall in linear geometries.</a:t>
            </a:r>
            <a:endParaRPr lang="en-US" sz="1425" dirty="0"/>
          </a:p>
        </p:txBody>
      </p:sp>
      <p:sp>
        <p:nvSpPr>
          <p:cNvPr id="48" name="Shape 46"/>
          <p:cNvSpPr/>
          <p:nvPr/>
        </p:nvSpPr>
        <p:spPr>
          <a:xfrm>
            <a:off x="9429750" y="7215560"/>
            <a:ext cx="7905750" cy="1507778"/>
          </a:xfrm>
          <a:prstGeom prst="roundRect">
            <a:avLst>
              <a:gd name="adj" fmla="val 7581"/>
            </a:avLst>
          </a:prstGeom>
          <a:solidFill>
            <a:srgbClr val="1C1C2E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9" name="Text 47"/>
          <p:cNvSpPr/>
          <p:nvPr/>
        </p:nvSpPr>
        <p:spPr>
          <a:xfrm>
            <a:off x="9782175" y="7567985"/>
            <a:ext cx="7416927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E87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BURSTEDDE (2001) LINK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9782175" y="7829922"/>
            <a:ext cx="7416927" cy="617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425" dirty="0">
                <a:solidFill>
                  <a:srgbClr val="EEEEF4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Repulsion acts as a discrete local patch cost, not a continuous force. The roundabout reduces the frequency of the high-cost configurations, buffering systemic stress.</a:t>
            </a:r>
            <a:endParaRPr lang="en-US" sz="1425" dirty="0"/>
          </a:p>
        </p:txBody>
      </p:sp>
      <p:sp>
        <p:nvSpPr>
          <p:cNvPr id="51" name="Text 49"/>
          <p:cNvSpPr/>
          <p:nvPr/>
        </p:nvSpPr>
        <p:spPr>
          <a:xfrm>
            <a:off x="16882393" y="9591675"/>
            <a:ext cx="52930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FFFFFF">
                    <a:alpha val="1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10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2199382"/>
            <a:ext cx="609600" cy="28575"/>
          </a:xfrm>
          <a:prstGeom prst="roundRect">
            <a:avLst>
              <a:gd name="adj" fmla="val 50000"/>
            </a:avLst>
          </a:prstGeom>
          <a:solidFill>
            <a:srgbClr val="E87C3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952500" y="2608957"/>
            <a:ext cx="1687449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17" dirty="0">
                <a:solidFill>
                  <a:srgbClr val="E87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5 — SOCIAL PROFILES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952500" y="3037582"/>
            <a:ext cx="16874490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kern="0" spc="-72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optimum ≠ collective optimum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952500" y="3997672"/>
            <a:ext cx="3895725" cy="2447925"/>
          </a:xfrm>
          <a:prstGeom prst="roundRect">
            <a:avLst>
              <a:gd name="adj" fmla="val 4669"/>
            </a:avLst>
          </a:prstGeom>
          <a:solidFill>
            <a:srgbClr val="1C1C2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952500" y="6436072"/>
            <a:ext cx="3895725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952500" y="3997672"/>
            <a:ext cx="3895725" cy="28575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952500" y="3997672"/>
            <a:ext cx="9525" cy="24479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4838700" y="3997672"/>
            <a:ext cx="9525" cy="24479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1304925" y="4369147"/>
            <a:ext cx="3286601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304925" y="4631085"/>
            <a:ext cx="328660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agents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04925" y="5031135"/>
            <a:ext cx="3286601" cy="433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81.6</a:t>
            </a:r>
            <a:r>
              <a:rPr lang="en-US" sz="1200" dirty="0">
                <a:solidFill>
                  <a:srgbClr val="EEEEF4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304925" y="5578822"/>
            <a:ext cx="328660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EEEEF4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time: 400 ticks Speed: 0.627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114925" y="3997672"/>
            <a:ext cx="3895725" cy="2447925"/>
          </a:xfrm>
          <a:prstGeom prst="roundRect">
            <a:avLst>
              <a:gd name="adj" fmla="val 4669"/>
            </a:avLst>
          </a:prstGeom>
          <a:solidFill>
            <a:srgbClr val="1C1C2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5114925" y="6436072"/>
            <a:ext cx="3895725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5114925" y="3997672"/>
            <a:ext cx="3895725" cy="28575"/>
          </a:xfrm>
          <a:prstGeom prst="rect">
            <a:avLst/>
          </a:prstGeom>
          <a:solidFill>
            <a:srgbClr val="E87C3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5114925" y="3997672"/>
            <a:ext cx="9525" cy="24479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9001125" y="3997672"/>
            <a:ext cx="9525" cy="24479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5467350" y="4369147"/>
            <a:ext cx="3286601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E87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AGGRESSIVE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67350" y="4631085"/>
            <a:ext cx="328660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Ks↑ · Kr↓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67350" y="5031135"/>
            <a:ext cx="3286601" cy="433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87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79.4</a:t>
            </a:r>
            <a:r>
              <a:rPr lang="en-US" sz="1200" dirty="0">
                <a:solidFill>
                  <a:srgbClr val="EEEEF4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467350" y="5578822"/>
            <a:ext cx="3286601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EEEEF4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Exit: 391 ticks — individually faster, but local clogging near exits reduces global throughput. </a:t>
            </a:r>
            <a:r>
              <a:rPr lang="en-US" sz="1200" dirty="0">
                <a:solidFill>
                  <a:srgbClr val="E87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Tragedy of the commons.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277350" y="3997672"/>
            <a:ext cx="3895725" cy="2447925"/>
          </a:xfrm>
          <a:prstGeom prst="roundRect">
            <a:avLst>
              <a:gd name="adj" fmla="val 4669"/>
            </a:avLst>
          </a:prstGeom>
          <a:solidFill>
            <a:srgbClr val="1C1C2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Shape 22"/>
          <p:cNvSpPr/>
          <p:nvPr/>
        </p:nvSpPr>
        <p:spPr>
          <a:xfrm>
            <a:off x="9277350" y="6436072"/>
            <a:ext cx="3895725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5" name="Shape 23"/>
          <p:cNvSpPr/>
          <p:nvPr/>
        </p:nvSpPr>
        <p:spPr>
          <a:xfrm>
            <a:off x="9277350" y="3997672"/>
            <a:ext cx="3895725" cy="28575"/>
          </a:xfrm>
          <a:prstGeom prst="rect">
            <a:avLst/>
          </a:prstGeom>
          <a:solidFill>
            <a:srgbClr val="4ECB8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Shape 24"/>
          <p:cNvSpPr/>
          <p:nvPr/>
        </p:nvSpPr>
        <p:spPr>
          <a:xfrm>
            <a:off x="9277350" y="3997672"/>
            <a:ext cx="9525" cy="24479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7" name="Shape 25"/>
          <p:cNvSpPr/>
          <p:nvPr/>
        </p:nvSpPr>
        <p:spPr>
          <a:xfrm>
            <a:off x="13163550" y="3997672"/>
            <a:ext cx="9525" cy="24479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9629775" y="4369147"/>
            <a:ext cx="3286601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4EC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IMITATOR (HERDING)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629775" y="4631085"/>
            <a:ext cx="328660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Kd↑↑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629775" y="5031135"/>
            <a:ext cx="3286601" cy="433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EC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77.2</a:t>
            </a:r>
            <a:r>
              <a:rPr lang="en-US" sz="1200" dirty="0">
                <a:solidFill>
                  <a:srgbClr val="EEEEF4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9629775" y="5578822"/>
            <a:ext cx="3286601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EEEEF4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Longest exit time: 411 ticks. Blind platooning creates labyrinthine routes. </a:t>
            </a:r>
            <a:r>
              <a:rPr lang="en-US" sz="1200" dirty="0">
                <a:solidFill>
                  <a:srgbClr val="E87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Herding effect.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3439775" y="3997672"/>
            <a:ext cx="3895725" cy="2447925"/>
          </a:xfrm>
          <a:prstGeom prst="roundRect">
            <a:avLst>
              <a:gd name="adj" fmla="val 4669"/>
            </a:avLst>
          </a:prstGeom>
          <a:solidFill>
            <a:srgbClr val="1C1C2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3" name="Shape 31"/>
          <p:cNvSpPr/>
          <p:nvPr/>
        </p:nvSpPr>
        <p:spPr>
          <a:xfrm>
            <a:off x="13439775" y="6436072"/>
            <a:ext cx="3895725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4" name="Shape 32"/>
          <p:cNvSpPr/>
          <p:nvPr/>
        </p:nvSpPr>
        <p:spPr>
          <a:xfrm>
            <a:off x="13439775" y="3997672"/>
            <a:ext cx="3895725" cy="28575"/>
          </a:xfrm>
          <a:prstGeom prst="rect">
            <a:avLst/>
          </a:prstGeom>
          <a:solidFill>
            <a:srgbClr val="5B8DE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5" name="Shape 33"/>
          <p:cNvSpPr/>
          <p:nvPr/>
        </p:nvSpPr>
        <p:spPr>
          <a:xfrm>
            <a:off x="13439775" y="3997672"/>
            <a:ext cx="9525" cy="24479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6" name="Shape 34"/>
          <p:cNvSpPr/>
          <p:nvPr/>
        </p:nvSpPr>
        <p:spPr>
          <a:xfrm>
            <a:off x="17325975" y="3997672"/>
            <a:ext cx="9525" cy="24479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13792200" y="4369147"/>
            <a:ext cx="3286601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5B8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CAUTIOUS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3792200" y="4631085"/>
            <a:ext cx="328660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Kr↑↑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3792200" y="5031135"/>
            <a:ext cx="3286601" cy="433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5B8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75.2</a:t>
            </a:r>
            <a:r>
              <a:rPr lang="en-US" sz="1200" dirty="0">
                <a:solidFill>
                  <a:srgbClr val="EEEEF4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13792200" y="5578822"/>
            <a:ext cx="3286601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EEEEF4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Lowest throughput. Hesitation paralysis at entries. Yet: highest speed &amp; shortest exit time </a:t>
            </a:r>
            <a:r>
              <a:rPr lang="en-US" sz="1200" dirty="0">
                <a:solidFill>
                  <a:srgbClr val="E87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moving</a:t>
            </a:r>
            <a:r>
              <a:rPr lang="en-US" sz="1200" dirty="0">
                <a:solidFill>
                  <a:srgbClr val="EEEEF4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952500" y="6750397"/>
            <a:ext cx="16383000" cy="1337221"/>
          </a:xfrm>
          <a:prstGeom prst="roundRect">
            <a:avLst>
              <a:gd name="adj" fmla="val 8548"/>
            </a:avLst>
          </a:prstGeom>
          <a:solidFill>
            <a:srgbClr val="14141F"/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Text 40"/>
          <p:cNvSpPr/>
          <p:nvPr/>
        </p:nvSpPr>
        <p:spPr>
          <a:xfrm>
            <a:off x="1304925" y="7102822"/>
            <a:ext cx="16148495" cy="708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650" b="1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 insight: </a:t>
            </a:r>
            <a:r>
              <a:rPr lang="en-US" sz="1650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passive coordination embedded in the roundabout geometry is robust to moderate behavioural heterogeneity — but each extreme type erodes collective efficiency through a distinct mechanism (clogging / platooning / paralysis).</a:t>
            </a:r>
            <a:endParaRPr lang="en-US" sz="1650" dirty="0"/>
          </a:p>
        </p:txBody>
      </p:sp>
      <p:sp>
        <p:nvSpPr>
          <p:cNvPr id="43" name="Text 41"/>
          <p:cNvSpPr/>
          <p:nvPr/>
        </p:nvSpPr>
        <p:spPr>
          <a:xfrm>
            <a:off x="16880681" y="9591675"/>
            <a:ext cx="53101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FFFFFF">
                    <a:alpha val="1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10</a:t>
            </a:r>
            <a:endParaRPr lang="en-US" sz="9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5000" y="5524500"/>
            <a:ext cx="6667500" cy="6667500"/>
          </a:xfrm>
          <a:prstGeom prst="ellipse">
            <a:avLst/>
          </a:prstGeom>
          <a:ln w="9525">
            <a:solidFill>
              <a:srgbClr val="FFFF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14763750" y="7239000"/>
            <a:ext cx="3810000" cy="3810000"/>
          </a:xfrm>
          <a:prstGeom prst="ellipse">
            <a:avLst/>
          </a:prstGeom>
          <a:ln w="9525">
            <a:solidFill>
              <a:srgbClr val="FFFF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952500" y="1469752"/>
            <a:ext cx="609600" cy="28575"/>
          </a:xfrm>
          <a:prstGeom prst="roundRect">
            <a:avLst>
              <a:gd name="adj" fmla="val 50000"/>
            </a:avLst>
          </a:prstGeom>
          <a:solidFill>
            <a:srgbClr val="E87C3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952500" y="1879327"/>
            <a:ext cx="1687449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17" dirty="0">
                <a:solidFill>
                  <a:srgbClr val="E87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 &amp; FUTURE WORK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952500" y="2307952"/>
            <a:ext cx="8829675" cy="1127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900" b="1" kern="0" spc="-78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roundabout as a </a:t>
            </a:r>
            <a:r>
              <a:rPr lang="en-US" sz="3900" kern="0" spc="-78" dirty="0">
                <a:solidFill>
                  <a:srgbClr val="E87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computation </a:t>
            </a:r>
            <a:r>
              <a:rPr lang="en-US" sz="3900" b="1" kern="0" spc="-78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</a:t>
            </a:r>
            <a:endParaRPr lang="en-US" sz="3900" dirty="0"/>
          </a:p>
        </p:txBody>
      </p:sp>
      <p:sp>
        <p:nvSpPr>
          <p:cNvPr id="7" name="Shape 5"/>
          <p:cNvSpPr/>
          <p:nvPr/>
        </p:nvSpPr>
        <p:spPr>
          <a:xfrm>
            <a:off x="952500" y="3988073"/>
            <a:ext cx="76200" cy="76200"/>
          </a:xfrm>
          <a:prstGeom prst="ellipse">
            <a:avLst/>
          </a:prstGeom>
          <a:solidFill>
            <a:srgbClr val="E87C3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1295400" y="3892823"/>
            <a:ext cx="7691628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Circular geometry converts </a:t>
            </a:r>
            <a:r>
              <a:rPr lang="en-US" sz="1950" dirty="0">
                <a:solidFill>
                  <a:srgbClr val="E87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conflicting crossing flows </a:t>
            </a:r>
            <a:r>
              <a:rPr lang="en-US" sz="1950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into </a:t>
            </a:r>
            <a:r>
              <a:rPr lang="en-US" sz="1950" dirty="0">
                <a:solidFill>
                  <a:srgbClr val="E87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compatible tangential flows </a:t>
            </a:r>
            <a:r>
              <a:rPr lang="en-US" sz="1950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without explicit agent communication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52500" y="5312048"/>
            <a:ext cx="76200" cy="76200"/>
          </a:xfrm>
          <a:prstGeom prst="ellipse">
            <a:avLst/>
          </a:prstGeom>
          <a:solidFill>
            <a:srgbClr val="E87C3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1295400" y="5216798"/>
            <a:ext cx="7691628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Self-organisation (φ=1) is </a:t>
            </a:r>
            <a:r>
              <a:rPr lang="en-US" sz="1950" dirty="0">
                <a:solidFill>
                  <a:srgbClr val="E87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geometry-driven </a:t>
            </a:r>
            <a:r>
              <a:rPr lang="en-US" sz="1950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stigmergy-driven: the environment is the algorithm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52500" y="6264548"/>
            <a:ext cx="76200" cy="76200"/>
          </a:xfrm>
          <a:prstGeom prst="ellipse">
            <a:avLst/>
          </a:prstGeom>
          <a:solidFill>
            <a:srgbClr val="E87C3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1295400" y="6169298"/>
            <a:ext cx="7691628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</a:t>
            </a:r>
            <a:r>
              <a:rPr lang="en-US" sz="1950" dirty="0">
                <a:solidFill>
                  <a:srgbClr val="E87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island radius </a:t>
            </a:r>
            <a:r>
              <a:rPr lang="en-US" sz="1950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exists: anti-conflict benefit exceeds geometric cost only below a threshold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952500" y="7217048"/>
            <a:ext cx="76200" cy="76200"/>
          </a:xfrm>
          <a:prstGeom prst="ellipse">
            <a:avLst/>
          </a:prstGeom>
          <a:solidFill>
            <a:srgbClr val="E87C3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1295400" y="7121798"/>
            <a:ext cx="7691628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Geometry </a:t>
            </a:r>
            <a:r>
              <a:rPr lang="en-US" sz="1950" dirty="0">
                <a:solidFill>
                  <a:srgbClr val="E87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buffers repulsion stress </a:t>
            </a:r>
            <a:r>
              <a:rPr lang="en-US" sz="1950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high Kr does not collapse the system because frontal encounters are structurally rare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8169548"/>
            <a:ext cx="76200" cy="76200"/>
          </a:xfrm>
          <a:prstGeom prst="ellipse">
            <a:avLst/>
          </a:prstGeom>
          <a:solidFill>
            <a:srgbClr val="E87C3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1295400" y="8074298"/>
            <a:ext cx="7691628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Behavioural heterogeneity degrades performance through </a:t>
            </a:r>
            <a:r>
              <a:rPr lang="en-US" sz="1950" dirty="0">
                <a:solidFill>
                  <a:srgbClr val="E87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distinct mechanisms </a:t>
            </a:r>
            <a:r>
              <a:rPr lang="en-US" sz="1950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(clogging / platooning / paralysis)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525000" y="3892823"/>
            <a:ext cx="7810500" cy="1507778"/>
          </a:xfrm>
          <a:prstGeom prst="roundRect">
            <a:avLst>
              <a:gd name="adj" fmla="val 7581"/>
            </a:avLst>
          </a:prstGeom>
          <a:solidFill>
            <a:srgbClr val="1C1C2E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9877425" y="4245248"/>
            <a:ext cx="731882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E87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LIMITATION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877425" y="4507185"/>
            <a:ext cx="7318820" cy="617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425" dirty="0">
                <a:solidFill>
                  <a:srgbClr val="EEEEF4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Discrete CA: space, time, speed are quantised. Less faithful than continuous models for fine accelerations, perceptual anisotropy, and empirical calibration.</a:t>
            </a:r>
            <a:endParaRPr lang="en-US" sz="1425" dirty="0"/>
          </a:p>
        </p:txBody>
      </p:sp>
      <p:sp>
        <p:nvSpPr>
          <p:cNvPr id="20" name="Shape 18"/>
          <p:cNvSpPr/>
          <p:nvPr/>
        </p:nvSpPr>
        <p:spPr>
          <a:xfrm>
            <a:off x="9525000" y="5591101"/>
            <a:ext cx="7810500" cy="2665958"/>
          </a:xfrm>
          <a:prstGeom prst="roundRect">
            <a:avLst>
              <a:gd name="adj" fmla="val 4287"/>
            </a:avLst>
          </a:prstGeom>
          <a:solidFill>
            <a:srgbClr val="1C1C2E"/>
          </a:solidFill>
          <a:ln w="9525">
            <a:solidFill>
              <a:srgbClr val="E87C3A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9877425" y="5943526"/>
            <a:ext cx="731882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E87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877425" y="6205463"/>
            <a:ext cx="7318820" cy="1775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425" b="1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Mix experiment: </a:t>
            </a:r>
            <a:r>
              <a:rPr lang="en-US" sz="1425" dirty="0">
                <a:solidFill>
                  <a:srgbClr val="EEEEF4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heterogeneous populations (e.g. 25% Aggressive + 75% Normal) to find the threshold where non-cooperative agents break the laminar dissipation capacity of the passive DAI. </a:t>
            </a:r>
            <a:r>
              <a:rPr lang="en-US" sz="1425" b="1" dirty="0">
                <a:solidFill>
                  <a:srgbClr val="EE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Systematic comparison: </a:t>
            </a:r>
            <a:r>
              <a:rPr lang="en-US" sz="1425" dirty="0">
                <a:solidFill>
                  <a:srgbClr val="EEEEF4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 roundabout vs. standard crossing vs. continuous Helbing-model with same geometry.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16918037" y="9591675"/>
            <a:ext cx="49366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FFFFFF">
                    <a:alpha val="1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1336</Words>
  <Application>Microsoft Office PowerPoint</Application>
  <PresentationFormat>Personalizzato</PresentationFormat>
  <Paragraphs>203</Paragraphs>
  <Slides>10</Slides>
  <Notes>10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3" baseType="lpstr">
      <vt:lpstr>Arial</vt:lpstr>
      <vt:lpstr>Courier New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DAVIDE ZANNI</cp:lastModifiedBy>
  <cp:revision>2</cp:revision>
  <dcterms:created xsi:type="dcterms:W3CDTF">2026-04-20T15:24:15Z</dcterms:created>
  <dcterms:modified xsi:type="dcterms:W3CDTF">2026-04-20T15:27:00Z</dcterms:modified>
</cp:coreProperties>
</file>